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E84EB0-1026-4EF6-8892-033272DAE62D}">
  <a:tblStyle styleId="{91E84EB0-1026-4EF6-8892-033272DAE62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2B4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85800" y="502920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E60A5"/>
                </a:solidFill>
                <a:latin typeface="Arial"/>
                <a:ea typeface="Arial"/>
                <a:cs typeface="Arial"/>
                <a:sym typeface="Arial"/>
              </a:rPr>
              <a:t>Research question and headline answer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85800" y="960120"/>
            <a:ext cx="96926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Do team winning streaks increase</a:t>
            </a:r>
            <a:br>
              <a:rPr b="1" i="0" lang="en-US" sz="3800" u="none" cap="none" strike="noStrike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800" u="none" cap="none" strike="noStrike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AFL match attendance?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13232" y="2331720"/>
            <a:ext cx="9875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55D68"/>
                </a:solidFill>
                <a:latin typeface="Arial"/>
                <a:ea typeface="Arial"/>
                <a:cs typeface="Arial"/>
                <a:sym typeface="Arial"/>
              </a:rPr>
              <a:t>A descriptive analysis of AFL match-level attendance, 2000–2024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731520" y="3127248"/>
            <a:ext cx="3108960" cy="1234440"/>
          </a:xfrm>
          <a:prstGeom prst="roundRect">
            <a:avLst>
              <a:gd fmla="val 16667" name="adj"/>
            </a:avLst>
          </a:prstGeom>
          <a:solidFill>
            <a:srgbClr val="E8EF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77240" y="3291840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60A5"/>
                </a:solidFill>
                <a:latin typeface="Arial"/>
                <a:ea typeface="Arial"/>
                <a:cs typeface="Arial"/>
                <a:sym typeface="Arial"/>
              </a:rPr>
              <a:t>≈ 2.7%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41248" y="3785615"/>
            <a:ext cx="288950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higher attendance per extra game in the maximum pre-match winning streak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4160520" y="3127248"/>
            <a:ext cx="3108960" cy="1234440"/>
          </a:xfrm>
          <a:prstGeom prst="roundRect">
            <a:avLst>
              <a:gd fmla="val 16667" name="adj"/>
            </a:avLst>
          </a:prstGeom>
          <a:solidFill>
            <a:srgbClr val="E8EF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206240" y="3291840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47A59"/>
                </a:solidFill>
                <a:latin typeface="Arial"/>
                <a:ea typeface="Arial"/>
                <a:cs typeface="Arial"/>
                <a:sym typeface="Arial"/>
              </a:rPr>
              <a:t>≈ 930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270248" y="3785615"/>
            <a:ext cx="288950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extra spectators at the average crowd of 34,440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7589520" y="3127248"/>
            <a:ext cx="3108960" cy="1234440"/>
          </a:xfrm>
          <a:prstGeom prst="roundRect">
            <a:avLst>
              <a:gd fmla="val 16667" name="adj"/>
            </a:avLst>
          </a:prstGeom>
          <a:solidFill>
            <a:srgbClr val="E8EF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7635240" y="3291840"/>
            <a:ext cx="3017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C46822"/>
                </a:solidFill>
                <a:latin typeface="Arial"/>
                <a:ea typeface="Arial"/>
                <a:cs typeface="Arial"/>
                <a:sym typeface="Arial"/>
              </a:rPr>
              <a:t>Not causal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699248" y="3785615"/>
            <a:ext cx="2889504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a robust conditional association, not proof of cause and effect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731520" y="4892040"/>
            <a:ext cx="10332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Bottom line: longer pre-match winning streaks are consistently associated with higher AFL crowds, but unobserved demand factors remain the key limitation.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548640" y="6510528"/>
            <a:ext cx="11064240" cy="27432"/>
          </a:xfrm>
          <a:prstGeom prst="rect">
            <a:avLst/>
          </a:prstGeom>
          <a:solidFill>
            <a:srgbClr val="E8EF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548640" y="6547104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55D68"/>
                </a:solidFill>
                <a:latin typeface="Calibri"/>
                <a:ea typeface="Calibri"/>
                <a:cs typeface="Calibri"/>
                <a:sym typeface="Calibri"/>
              </a:rPr>
              <a:t>ECC3479 | Data and Evidence in Economics | AFL attendance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1155680" y="654710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55D6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548640" y="384048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Why this question matters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66928" y="960120"/>
            <a:ext cx="10789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55D68"/>
                </a:solidFill>
                <a:latin typeface="Arial"/>
                <a:ea typeface="Arial"/>
                <a:cs typeface="Arial"/>
                <a:sym typeface="Arial"/>
              </a:rPr>
              <a:t>Attendance is not just a sporting outcome</a:t>
            </a:r>
            <a:r>
              <a:rPr lang="en-US" sz="1300">
                <a:solidFill>
                  <a:srgbClr val="555D68"/>
                </a:solidFill>
              </a:rPr>
              <a:t>, </a:t>
            </a:r>
            <a:r>
              <a:rPr b="0" lang="en-US" sz="1300">
                <a:solidFill>
                  <a:srgbClr val="555D68"/>
                </a:solidFill>
                <a:latin typeface="Arial"/>
                <a:ea typeface="Arial"/>
                <a:cs typeface="Arial"/>
                <a:sym typeface="Arial"/>
              </a:rPr>
              <a:t>it is also an economic outcome.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640080" y="1508760"/>
            <a:ext cx="3520440" cy="219456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F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640080" y="1508760"/>
            <a:ext cx="82296" cy="2194560"/>
          </a:xfrm>
          <a:prstGeom prst="rect">
            <a:avLst/>
          </a:prstGeom>
          <a:solidFill>
            <a:srgbClr val="2E60A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841247" y="1673351"/>
            <a:ext cx="31729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Clubs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41247" y="2075688"/>
            <a:ext cx="3172968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Crowds affect match-day revenue, sponsorship value and fan engagement.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4343400" y="1508760"/>
            <a:ext cx="3520440" cy="219456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F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4343400" y="1508760"/>
            <a:ext cx="82296" cy="2194560"/>
          </a:xfrm>
          <a:prstGeom prst="rect">
            <a:avLst/>
          </a:prstGeom>
          <a:solidFill>
            <a:srgbClr val="247A5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4544568" y="1673351"/>
            <a:ext cx="31729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Venues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4544568" y="2075688"/>
            <a:ext cx="3172968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Attendance shapes staffing, utilisation, transport planning and food/beverage demand.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8046720" y="1508760"/>
            <a:ext cx="3520440" cy="219456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F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8046720" y="1508760"/>
            <a:ext cx="82296" cy="2194560"/>
          </a:xfrm>
          <a:prstGeom prst="rect">
            <a:avLst/>
          </a:prstGeom>
          <a:solidFill>
            <a:srgbClr val="C468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8247888" y="1673351"/>
            <a:ext cx="31729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League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247888" y="2075688"/>
            <a:ext cx="3172968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Fixture planners and broadcasters care about what makes games attractive.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960120" y="4343400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Winning streaks may signal momentum, team quality and expectation. The empirical question is whether that pattern remains visible after accounting for basic match, season and venue differences.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3794760" y="5349240"/>
            <a:ext cx="4572000" cy="566928"/>
          </a:xfrm>
          <a:prstGeom prst="roundRect">
            <a:avLst>
              <a:gd fmla="val 16667" name="adj"/>
            </a:avLst>
          </a:prstGeom>
          <a:solidFill>
            <a:srgbClr val="E8EF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B48"/>
                </a:solidFill>
                <a:latin typeface="Calibri"/>
                <a:ea typeface="Calibri"/>
                <a:cs typeface="Calibri"/>
                <a:sym typeface="Calibri"/>
              </a:rPr>
              <a:t>This is a demand-pattern question, not a causal design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548640" y="6510528"/>
            <a:ext cx="11064240" cy="27432"/>
          </a:xfrm>
          <a:prstGeom prst="rect">
            <a:avLst/>
          </a:prstGeom>
          <a:solidFill>
            <a:srgbClr val="E8EF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548640" y="6547104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55D68"/>
                </a:solidFill>
                <a:latin typeface="Calibri"/>
                <a:ea typeface="Calibri"/>
                <a:cs typeface="Calibri"/>
                <a:sym typeface="Calibri"/>
              </a:rPr>
              <a:t>ECC3479 | Data and Evidence in Economics | AFL attendance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11155680" y="654710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55D6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548640" y="384048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Data: AFL match-level records, 2000–2024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66928" y="9601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55D68"/>
                </a:solidFill>
                <a:latin typeface="Arial"/>
                <a:ea typeface="Arial"/>
                <a:cs typeface="Arial"/>
                <a:sym typeface="Arial"/>
              </a:rPr>
              <a:t>Concrete sample, variables and restrictions used for the final analysis.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685800" y="1417320"/>
            <a:ext cx="2331720" cy="1143000"/>
          </a:xfrm>
          <a:prstGeom prst="roundRect">
            <a:avLst>
              <a:gd fmla="val 16667" name="adj"/>
            </a:avLst>
          </a:prstGeom>
          <a:solidFill>
            <a:srgbClr val="E8EF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731520" y="1581912"/>
            <a:ext cx="224027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E60A5"/>
                </a:solidFill>
                <a:latin typeface="Arial"/>
                <a:ea typeface="Arial"/>
                <a:cs typeface="Arial"/>
                <a:sym typeface="Arial"/>
              </a:rPr>
              <a:t>4,643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795528" y="2075688"/>
            <a:ext cx="2112263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matches in the final analysis sample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3246120" y="1417320"/>
            <a:ext cx="2331720" cy="1143000"/>
          </a:xfrm>
          <a:prstGeom prst="roundRect">
            <a:avLst>
              <a:gd fmla="val 16667" name="adj"/>
            </a:avLst>
          </a:prstGeom>
          <a:solidFill>
            <a:srgbClr val="E8EF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3291839" y="1581912"/>
            <a:ext cx="224027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47A59"/>
                </a:solidFill>
                <a:latin typeface="Arial"/>
                <a:ea typeface="Arial"/>
                <a:cs typeface="Arial"/>
                <a:sym typeface="Arial"/>
              </a:rPr>
              <a:t>AFL Tables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3355848" y="2075688"/>
            <a:ext cx="2112263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match-level data collected via reproducible pipeline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5806440" y="1417320"/>
            <a:ext cx="2331720" cy="1143000"/>
          </a:xfrm>
          <a:prstGeom prst="roundRect">
            <a:avLst>
              <a:gd fmla="val 16667" name="adj"/>
            </a:avLst>
          </a:prstGeom>
          <a:solidFill>
            <a:srgbClr val="E8EF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5852159" y="1581912"/>
            <a:ext cx="224027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C46822"/>
                </a:solidFill>
                <a:latin typeface="Arial"/>
                <a:ea typeface="Arial"/>
                <a:cs typeface="Arial"/>
                <a:sym typeface="Arial"/>
              </a:rPr>
              <a:t>Positive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5916168" y="2075688"/>
            <a:ext cx="2112263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attendance required for log outcome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8366760" y="1417320"/>
            <a:ext cx="2331720" cy="1143000"/>
          </a:xfrm>
          <a:prstGeom prst="roundRect">
            <a:avLst>
              <a:gd fmla="val 16667" name="adj"/>
            </a:avLst>
          </a:prstGeom>
          <a:solidFill>
            <a:srgbClr val="E8EF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8412480" y="1581912"/>
            <a:ext cx="2240279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E60A5"/>
                </a:solidFill>
                <a:latin typeface="Arial"/>
                <a:ea typeface="Arial"/>
                <a:cs typeface="Arial"/>
                <a:sym typeface="Arial"/>
              </a:rPr>
              <a:t>Pre-match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8476488" y="2075688"/>
            <a:ext cx="2112263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streaks use only prior results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685800" y="2880360"/>
            <a:ext cx="3337560" cy="214884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F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685800" y="2880360"/>
            <a:ext cx="82296" cy="2148840"/>
          </a:xfrm>
          <a:prstGeom prst="rect">
            <a:avLst/>
          </a:prstGeom>
          <a:solidFill>
            <a:srgbClr val="2E60A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886968" y="3044952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Outcome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886968" y="3447288"/>
            <a:ext cx="2990088" cy="1490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log(attendance)</a:t>
            </a:r>
            <a:b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Used because crowds are right-skewed and the coefficient has an approximate percentage interpretation.</a:t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4434840" y="2880360"/>
            <a:ext cx="3337560" cy="214884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F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4434840" y="2880360"/>
            <a:ext cx="82296" cy="2148840"/>
          </a:xfrm>
          <a:prstGeom prst="rect">
            <a:avLst/>
          </a:prstGeom>
          <a:solidFill>
            <a:srgbClr val="247A5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4636007" y="3044952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Main variable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4636007" y="3447288"/>
            <a:ext cx="2990088" cy="1490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max_pre_streak</a:t>
            </a:r>
            <a:b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The larger of the two teams’ winning streaks entering the match.</a:t>
            </a: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8183879" y="2880360"/>
            <a:ext cx="3337560" cy="214884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F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8183879" y="2880360"/>
            <a:ext cx="82296" cy="2148840"/>
          </a:xfrm>
          <a:prstGeom prst="rect">
            <a:avLst/>
          </a:prstGeom>
          <a:solidFill>
            <a:srgbClr val="C468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8385048" y="3044952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Controls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8385048" y="3447288"/>
            <a:ext cx="2990088" cy="1490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Finals match, match margin, season fixed effects and venue fixed effects.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868680" y="553212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5D68"/>
                </a:solidFill>
                <a:latin typeface="Arial"/>
                <a:ea typeface="Arial"/>
                <a:cs typeface="Arial"/>
                <a:sym typeface="Arial"/>
              </a:rPr>
              <a:t>Scope limitation: match-level data cannot observe individual fan choices, ticket prices, weather, broadcast timing or membership status.</a:t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548640" y="6510528"/>
            <a:ext cx="11064240" cy="27432"/>
          </a:xfrm>
          <a:prstGeom prst="rect">
            <a:avLst/>
          </a:prstGeom>
          <a:solidFill>
            <a:srgbClr val="E8EF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548640" y="6547104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55D68"/>
                </a:solidFill>
                <a:latin typeface="Calibri"/>
                <a:ea typeface="Calibri"/>
                <a:cs typeface="Calibri"/>
                <a:sym typeface="Calibri"/>
              </a:rPr>
              <a:t>ECC3479 | Data and Evidence in Economics | AFL attendance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11155680" y="654710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55D6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548640" y="384048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Raw pattern: longer streaks tend to draw larger crowds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566928" y="9601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55D68"/>
                </a:solidFill>
                <a:latin typeface="Arial"/>
                <a:ea typeface="Arial"/>
                <a:cs typeface="Arial"/>
                <a:sym typeface="Arial"/>
              </a:rPr>
              <a:t>This motivates the regression, but does not control for match, season or venue differences.</a:t>
            </a:r>
            <a:endParaRPr/>
          </a:p>
        </p:txBody>
      </p:sp>
      <p:pic>
        <p:nvPicPr>
          <p:cNvPr descr="figure1_log_attendance_streak.png" id="168" name="Google Shape;1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417320"/>
            <a:ext cx="7589520" cy="427051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/>
          <p:nvPr/>
        </p:nvSpPr>
        <p:spPr>
          <a:xfrm>
            <a:off x="8732520" y="1508760"/>
            <a:ext cx="2606040" cy="118872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F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8732520" y="1508760"/>
            <a:ext cx="82296" cy="1188720"/>
          </a:xfrm>
          <a:prstGeom prst="rect">
            <a:avLst/>
          </a:prstGeom>
          <a:solidFill>
            <a:srgbClr val="2E60A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8933688" y="1673351"/>
            <a:ext cx="22585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What it shows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8933688" y="2075688"/>
            <a:ext cx="2258568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The fitted line slopes upward: higher streaks tend to sit with higher log attendance.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8732520" y="2971800"/>
            <a:ext cx="2606040" cy="141732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F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8732520" y="2971800"/>
            <a:ext cx="82296" cy="1417320"/>
          </a:xfrm>
          <a:prstGeom prst="rect">
            <a:avLst/>
          </a:prstGeom>
          <a:solidFill>
            <a:srgbClr val="C468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8933688" y="3136392"/>
            <a:ext cx="22585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What it does not show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8933688" y="3538728"/>
            <a:ext cx="2258568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The raw plot does not separate streaks from finals, venue capacity, season or match context.</a:t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8915400" y="4846320"/>
            <a:ext cx="2240280" cy="502920"/>
          </a:xfrm>
          <a:prstGeom prst="roundRect">
            <a:avLst>
              <a:gd fmla="val 16667" name="adj"/>
            </a:avLst>
          </a:prstGeom>
          <a:solidFill>
            <a:srgbClr val="E8EF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62B48"/>
                </a:solidFill>
                <a:latin typeface="Calibri"/>
                <a:ea typeface="Calibri"/>
                <a:cs typeface="Calibri"/>
                <a:sym typeface="Calibri"/>
              </a:rPr>
              <a:t>Motivation for regression</a:t>
            </a:r>
            <a:endParaRPr/>
          </a:p>
        </p:txBody>
      </p:sp>
      <p:sp>
        <p:nvSpPr>
          <p:cNvPr id="178" name="Google Shape;178;p16"/>
          <p:cNvSpPr/>
          <p:nvPr/>
        </p:nvSpPr>
        <p:spPr>
          <a:xfrm>
            <a:off x="548640" y="6510528"/>
            <a:ext cx="11064240" cy="27432"/>
          </a:xfrm>
          <a:prstGeom prst="rect">
            <a:avLst/>
          </a:prstGeom>
          <a:solidFill>
            <a:srgbClr val="E8EF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548640" y="6547104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55D68"/>
                </a:solidFill>
                <a:latin typeface="Calibri"/>
                <a:ea typeface="Calibri"/>
                <a:cs typeface="Calibri"/>
                <a:sym typeface="Calibri"/>
              </a:rPr>
              <a:t>ECC3479 | Data and Evidence in Economics | AFL attendance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11155680" y="654710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55D6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548640" y="384048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Empirical strategy: estimate a descriptive association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566928" y="9601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55D68"/>
                </a:solidFill>
                <a:latin typeface="Arial"/>
                <a:ea typeface="Arial"/>
                <a:cs typeface="Arial"/>
                <a:sym typeface="Arial"/>
              </a:rPr>
              <a:t>The model compares matches with different streak lengths, conditional on observed match context.</a:t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777240" y="1417320"/>
            <a:ext cx="10652760" cy="868680"/>
          </a:xfrm>
          <a:prstGeom prst="roundRect">
            <a:avLst>
              <a:gd fmla="val 16667" name="adj"/>
            </a:avLst>
          </a:prstGeom>
          <a:solidFill>
            <a:srgbClr val="F6F8FC"/>
          </a:solidFill>
          <a:ln cap="flat" cmpd="sng" w="9525">
            <a:solidFill>
              <a:srgbClr val="D2DA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62B48"/>
                </a:solidFill>
                <a:latin typeface="Calibri"/>
                <a:ea typeface="Calibri"/>
                <a:cs typeface="Calibri"/>
                <a:sym typeface="Calibri"/>
              </a:rPr>
              <a:t>log(attendance) = max_pre_streak + finals + margin + season FE + venue FE + error</a:t>
            </a:r>
            <a:endParaRPr/>
          </a:p>
        </p:txBody>
      </p:sp>
      <p:sp>
        <p:nvSpPr>
          <p:cNvPr id="189" name="Google Shape;189;p17"/>
          <p:cNvSpPr/>
          <p:nvPr/>
        </p:nvSpPr>
        <p:spPr>
          <a:xfrm>
            <a:off x="777240" y="2697480"/>
            <a:ext cx="3337560" cy="192024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F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777240" y="2697480"/>
            <a:ext cx="82296" cy="1920240"/>
          </a:xfrm>
          <a:prstGeom prst="rect">
            <a:avLst/>
          </a:prstGeom>
          <a:solidFill>
            <a:srgbClr val="2E60A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978408" y="2862072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Why these controls?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978408" y="3264408"/>
            <a:ext cx="2990088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Finals, margin, season and venue capture major observable sources of crowd demand.</a:t>
            </a:r>
            <a:endParaRPr/>
          </a:p>
        </p:txBody>
      </p:sp>
      <p:sp>
        <p:nvSpPr>
          <p:cNvPr id="193" name="Google Shape;193;p17"/>
          <p:cNvSpPr/>
          <p:nvPr/>
        </p:nvSpPr>
        <p:spPr>
          <a:xfrm>
            <a:off x="4434840" y="2697480"/>
            <a:ext cx="3337560" cy="192024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F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4434840" y="2697480"/>
            <a:ext cx="82296" cy="1920240"/>
          </a:xfrm>
          <a:prstGeom prst="rect">
            <a:avLst/>
          </a:prstGeom>
          <a:solidFill>
            <a:srgbClr val="247A5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4636007" y="2862072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Coefficient meaning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4636007" y="3264408"/>
            <a:ext cx="2990088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One extra streak game is read as an approximate percentage difference in attendance.</a:t>
            </a:r>
            <a:endParaRPr/>
          </a:p>
        </p:txBody>
      </p:sp>
      <p:sp>
        <p:nvSpPr>
          <p:cNvPr id="197" name="Google Shape;197;p17"/>
          <p:cNvSpPr/>
          <p:nvPr/>
        </p:nvSpPr>
        <p:spPr>
          <a:xfrm>
            <a:off x="8092440" y="2697480"/>
            <a:ext cx="3337560" cy="192024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F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8092440" y="2697480"/>
            <a:ext cx="82296" cy="1920240"/>
          </a:xfrm>
          <a:prstGeom prst="rect">
            <a:avLst/>
          </a:prstGeom>
          <a:solidFill>
            <a:srgbClr val="C468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8293608" y="2862072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Interpretive assumption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8293608" y="3264408"/>
            <a:ext cx="2990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For a descriptive claim, the controls make comparisons more like-for-like</a:t>
            </a:r>
            <a:r>
              <a:rPr lang="en-US" sz="1250">
                <a:solidFill>
                  <a:srgbClr val="191C22"/>
                </a:solidFill>
              </a:rPr>
              <a:t>,</a:t>
            </a: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 but still not causal.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868680" y="5138928"/>
            <a:ext cx="10287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Remaining threat: unobserved demand factors such as team popularity, opponent quality, weather, time slot, ticket prices and broadcast scheduling may still move both streaks and attendance.</a:t>
            </a:r>
            <a:endParaRPr/>
          </a:p>
        </p:txBody>
      </p:sp>
      <p:sp>
        <p:nvSpPr>
          <p:cNvPr id="202" name="Google Shape;202;p17"/>
          <p:cNvSpPr/>
          <p:nvPr/>
        </p:nvSpPr>
        <p:spPr>
          <a:xfrm>
            <a:off x="548640" y="6510528"/>
            <a:ext cx="11064240" cy="27432"/>
          </a:xfrm>
          <a:prstGeom prst="rect">
            <a:avLst/>
          </a:prstGeom>
          <a:solidFill>
            <a:srgbClr val="E8EF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548640" y="6547104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55D68"/>
                </a:solidFill>
                <a:latin typeface="Calibri"/>
                <a:ea typeface="Calibri"/>
                <a:cs typeface="Calibri"/>
                <a:sym typeface="Calibri"/>
              </a:rPr>
              <a:t>ECC3479 | Data and Evidence in Economics | AFL attendance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11155680" y="654710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55D6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548640" y="384048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Main result: preferred estimate is about 2.7%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566928" y="9601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55D68"/>
                </a:solidFill>
                <a:latin typeface="Arial"/>
                <a:ea typeface="Arial"/>
                <a:cs typeface="Arial"/>
                <a:sym typeface="Arial"/>
              </a:rPr>
              <a:t>The coefficient falls after controls, but remains positive and precise.</a:t>
            </a:r>
            <a:endParaRPr/>
          </a:p>
        </p:txBody>
      </p:sp>
      <p:graphicFrame>
        <p:nvGraphicFramePr>
          <p:cNvPr id="212" name="Google Shape;212;p18"/>
          <p:cNvGraphicFramePr/>
          <p:nvPr/>
        </p:nvGraphicFramePr>
        <p:xfrm>
          <a:off x="685800" y="14447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{91E84EB0-1026-4EF6-8892-033272DAE62D}</a:tableStyleId>
              </a:tblPr>
              <a:tblGrid>
                <a:gridCol w="1737350"/>
                <a:gridCol w="1051550"/>
                <a:gridCol w="914400"/>
                <a:gridCol w="28803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162B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Coef.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162B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162B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Controls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162B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Raw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0.040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0.004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None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AFB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Match + season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0.028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0.003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Finals, margin, season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Preferred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0.027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0.002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 venue fixed effects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213" name="Google Shape;213;p18"/>
          <p:cNvSpPr/>
          <p:nvPr/>
        </p:nvSpPr>
        <p:spPr>
          <a:xfrm>
            <a:off x="7726679" y="1444752"/>
            <a:ext cx="3429000" cy="1051560"/>
          </a:xfrm>
          <a:prstGeom prst="roundRect">
            <a:avLst>
              <a:gd fmla="val 16667" name="adj"/>
            </a:avLst>
          </a:prstGeom>
          <a:solidFill>
            <a:srgbClr val="E8EF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7772400" y="1609344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E60A5"/>
                </a:solidFill>
                <a:latin typeface="Arial"/>
                <a:ea typeface="Arial"/>
                <a:cs typeface="Arial"/>
                <a:sym typeface="Arial"/>
              </a:rPr>
              <a:t>≈ 2.7%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7836407" y="2103120"/>
            <a:ext cx="3209544" cy="301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higher attendance per extra game in the maximum pre-match winning streak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7726679" y="2761488"/>
            <a:ext cx="3429000" cy="1051560"/>
          </a:xfrm>
          <a:prstGeom prst="roundRect">
            <a:avLst>
              <a:gd fmla="val 16667" name="adj"/>
            </a:avLst>
          </a:prstGeom>
          <a:solidFill>
            <a:srgbClr val="E8EF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7772400" y="2926080"/>
            <a:ext cx="3337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47A59"/>
                </a:solidFill>
                <a:latin typeface="Arial"/>
                <a:ea typeface="Arial"/>
                <a:cs typeface="Arial"/>
                <a:sym typeface="Arial"/>
              </a:rPr>
              <a:t>≈ 930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7836407" y="3419856"/>
            <a:ext cx="3209544" cy="301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extra spectators at the average crowd</a:t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777240" y="3886200"/>
            <a:ext cx="5074920" cy="141732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F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777240" y="3886200"/>
            <a:ext cx="82296" cy="1417320"/>
          </a:xfrm>
          <a:prstGeom prst="rect">
            <a:avLst/>
          </a:prstGeom>
          <a:solidFill>
            <a:srgbClr val="2E60A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978408" y="4050791"/>
            <a:ext cx="47274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How to read the progression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978408" y="4453128"/>
            <a:ext cx="4727448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The raw association is partly explained by match and season context. Venue fixed effects make only a small further change.</a:t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6263640" y="3886200"/>
            <a:ext cx="4709160" cy="141732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F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6263640" y="3886200"/>
            <a:ext cx="82296" cy="1417320"/>
          </a:xfrm>
          <a:prstGeom prst="rect">
            <a:avLst/>
          </a:prstGeom>
          <a:solidFill>
            <a:srgbClr val="247A5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6464807" y="4050791"/>
            <a:ext cx="43616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Plain English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6464807" y="4453128"/>
            <a:ext cx="4361688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After controlling for finals, margin, season and venue, longer streaks are still associated with higher crowds.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914400" y="562356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555D68"/>
                </a:solidFill>
                <a:latin typeface="Arial"/>
                <a:ea typeface="Arial"/>
                <a:cs typeface="Arial"/>
                <a:sym typeface="Arial"/>
              </a:rPr>
              <a:t>Direction: positive. Magnitude: 2.7%. Units: approximate percent higher attendance per additional streak game. Economic scale: about 930 spectators.</a:t>
            </a:r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548640" y="6510528"/>
            <a:ext cx="11064240" cy="27432"/>
          </a:xfrm>
          <a:prstGeom prst="rect">
            <a:avLst/>
          </a:prstGeom>
          <a:solidFill>
            <a:srgbClr val="E8EF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548640" y="6547104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55D68"/>
                </a:solidFill>
                <a:latin typeface="Calibri"/>
                <a:ea typeface="Calibri"/>
                <a:cs typeface="Calibri"/>
                <a:sym typeface="Calibri"/>
              </a:rPr>
              <a:t>ECC3479 | Data and Evidence in Economics | AFL attendance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11155680" y="654710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55D6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548640" y="384048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Robustness: the result survives distinct stress tests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566928" y="9601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55D68"/>
                </a:solidFill>
                <a:latin typeface="Arial"/>
                <a:ea typeface="Arial"/>
                <a:cs typeface="Arial"/>
                <a:sym typeface="Arial"/>
              </a:rPr>
              <a:t>Each check probes a different way the descriptive result could have been fragile.</a:t>
            </a:r>
            <a:endParaRPr/>
          </a:p>
        </p:txBody>
      </p:sp>
      <p:graphicFrame>
        <p:nvGraphicFramePr>
          <p:cNvPr id="238" name="Google Shape;238;p19"/>
          <p:cNvGraphicFramePr/>
          <p:nvPr/>
        </p:nvGraphicFramePr>
        <p:xfrm>
          <a:off x="594360" y="1417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{91E84EB0-1026-4EF6-8892-033272DAE62D}</a:tableStyleId>
              </a:tblPr>
              <a:tblGrid>
                <a:gridCol w="1828800"/>
                <a:gridCol w="4572000"/>
                <a:gridCol w="4572000"/>
              </a:tblGrid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Check family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162B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 it probes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162B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Outcome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162B48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Controls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 the raw result just match/season/venue context?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Positive: 0.040 → 0.027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AFBFD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Samples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 it driven by finals or COVID seasons?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Positive: 0.028 regular season; 0.024 no COVID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Functional form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Does log vs level or nonlinearity change the story?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Positive; however quadratic suggests diminishing returns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AFBFD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Inference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Does clustering by venue remove precision?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91C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Positive: 0.027, SE 0.003</a:t>
                      </a:r>
                      <a:endParaRPr/>
                    </a:p>
                  </a:txBody>
                  <a:tcPr marT="36575" marB="36575" marR="45725" marL="4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9" name="Google Shape;239;p19"/>
          <p:cNvSpPr/>
          <p:nvPr/>
        </p:nvSpPr>
        <p:spPr>
          <a:xfrm>
            <a:off x="868680" y="4800600"/>
            <a:ext cx="5212080" cy="100584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F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868680" y="4800600"/>
            <a:ext cx="82296" cy="1005840"/>
          </a:xfrm>
          <a:prstGeom prst="rect">
            <a:avLst/>
          </a:prstGeom>
          <a:solidFill>
            <a:srgbClr val="AA3C3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1069848" y="4965192"/>
            <a:ext cx="4864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What would worry me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1069848" y="5367528"/>
            <a:ext cx="48646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A sign reversal, near-zero coefficient in key subsamples, or a loss of precision under clustered inference.</a:t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6355080" y="4800600"/>
            <a:ext cx="4937760" cy="100584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F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6355080" y="4800600"/>
            <a:ext cx="82296" cy="1005840"/>
          </a:xfrm>
          <a:prstGeom prst="rect">
            <a:avLst/>
          </a:prstGeom>
          <a:solidFill>
            <a:srgbClr val="247A5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6556248" y="4965192"/>
            <a:ext cx="45902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What actually happens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6556248" y="5367528"/>
            <a:ext cx="45902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The sign and precision hold, but the exact magnitude is smaller after controls and no-COVID restriction.</a:t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548640" y="6510528"/>
            <a:ext cx="11064240" cy="27432"/>
          </a:xfrm>
          <a:prstGeom prst="rect">
            <a:avLst/>
          </a:prstGeom>
          <a:solidFill>
            <a:srgbClr val="E8EF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548640" y="6547104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55D68"/>
                </a:solidFill>
                <a:latin typeface="Calibri"/>
                <a:ea typeface="Calibri"/>
                <a:cs typeface="Calibri"/>
                <a:sym typeface="Calibri"/>
              </a:rPr>
              <a:t>ECC3479 | Data and Evidence in Economics | AFL attendance</a:t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11155680" y="654710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55D6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548640" y="384048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Conclusion: strong pattern, cautious interpretation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566928" y="96012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55D68"/>
                </a:solidFill>
                <a:latin typeface="Arial"/>
                <a:ea typeface="Arial"/>
                <a:cs typeface="Arial"/>
                <a:sym typeface="Arial"/>
              </a:rPr>
              <a:t>The evidence supports a robust descriptive association, not a causal effect.</a:t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>
            <a:off x="731520" y="1325880"/>
            <a:ext cx="3383280" cy="205740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F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731520" y="1325880"/>
            <a:ext cx="82296" cy="2057400"/>
          </a:xfrm>
          <a:prstGeom prst="rect">
            <a:avLst/>
          </a:prstGeom>
          <a:solidFill>
            <a:srgbClr val="247A5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932688" y="1490472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What we can conclude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932688" y="1892807"/>
            <a:ext cx="3035808" cy="1399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Winning streaks are consistently associated with higher AFL attendance in this match-level dataset.</a:t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4434840" y="1325880"/>
            <a:ext cx="3383280" cy="205740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F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4434840" y="1325880"/>
            <a:ext cx="82296" cy="2057400"/>
          </a:xfrm>
          <a:prstGeom prst="rect">
            <a:avLst/>
          </a:prstGeom>
          <a:solidFill>
            <a:srgbClr val="C468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4636007" y="1490472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What we cannot conclude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4636007" y="1892807"/>
            <a:ext cx="3035808" cy="1399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The analysis cannot prove that winning streaks themselves cause crowds to rise.</a:t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8138160" y="1325880"/>
            <a:ext cx="3383280" cy="205740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12700">
            <a:solidFill>
              <a:srgbClr val="DFE4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8138160" y="1325880"/>
            <a:ext cx="82296" cy="2057400"/>
          </a:xfrm>
          <a:prstGeom prst="rect">
            <a:avLst/>
          </a:prstGeom>
          <a:solidFill>
            <a:srgbClr val="2E60A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8339328" y="1490472"/>
            <a:ext cx="30358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B48"/>
                </a:solidFill>
                <a:latin typeface="Arial"/>
                <a:ea typeface="Arial"/>
                <a:cs typeface="Arial"/>
                <a:sym typeface="Arial"/>
              </a:rPr>
              <a:t>What would improve it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8339328" y="1892807"/>
            <a:ext cx="3035808" cy="1399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Richer demand data or a quasi-experimental design that isolates unexpected variation in team form.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960120" y="3977639"/>
            <a:ext cx="1024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91C22"/>
                </a:solidFill>
              </a:rPr>
              <a:t>To improve the estimate</a:t>
            </a:r>
            <a:r>
              <a:rPr b="0" lang="en-US" sz="170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700">
                <a:solidFill>
                  <a:srgbClr val="191C22"/>
                </a:solidFill>
              </a:rPr>
              <a:t>collecting data on</a:t>
            </a:r>
            <a:r>
              <a:rPr b="0" lang="en-US" sz="1700">
                <a:solidFill>
                  <a:srgbClr val="191C22"/>
                </a:solidFill>
                <a:latin typeface="Arial"/>
                <a:ea typeface="Arial"/>
                <a:cs typeface="Arial"/>
                <a:sym typeface="Arial"/>
              </a:rPr>
              <a:t> currently unobserved demand factors such as supporter base size, opponent quality, fixture attractiveness, weather, ticket prices and broadcast slot.</a:t>
            </a:r>
            <a:endParaRPr/>
          </a:p>
        </p:txBody>
      </p:sp>
      <p:sp>
        <p:nvSpPr>
          <p:cNvPr id="270" name="Google Shape;270;p20"/>
          <p:cNvSpPr/>
          <p:nvPr/>
        </p:nvSpPr>
        <p:spPr>
          <a:xfrm>
            <a:off x="2834640" y="5349240"/>
            <a:ext cx="6537900" cy="567000"/>
          </a:xfrm>
          <a:prstGeom prst="roundRect">
            <a:avLst>
              <a:gd fmla="val 16667" name="adj"/>
            </a:avLst>
          </a:prstGeom>
          <a:solidFill>
            <a:srgbClr val="E8EF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62B48"/>
                </a:solidFill>
                <a:latin typeface="Calibri"/>
                <a:ea typeface="Calibri"/>
                <a:cs typeface="Calibri"/>
                <a:sym typeface="Calibri"/>
              </a:rPr>
              <a:t>Bottom line: robust conditional association, but the causal mechanism remains open</a:t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548640" y="6510528"/>
            <a:ext cx="11064240" cy="27432"/>
          </a:xfrm>
          <a:prstGeom prst="rect">
            <a:avLst/>
          </a:prstGeom>
          <a:solidFill>
            <a:srgbClr val="E8EF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548640" y="6547104"/>
            <a:ext cx="6858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55D68"/>
                </a:solidFill>
                <a:latin typeface="Calibri"/>
                <a:ea typeface="Calibri"/>
                <a:cs typeface="Calibri"/>
                <a:sym typeface="Calibri"/>
              </a:rPr>
              <a:t>ECC3479 | Data and Evidence in Economics | AFL attendance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11155680" y="654710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55D6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